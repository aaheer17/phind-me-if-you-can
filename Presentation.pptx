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7" r:id="rId2"/>
  </p:sldMasterIdLst>
  <p:notesMasterIdLst>
    <p:notesMasterId r:id="rId11"/>
  </p:notesMasterIdLst>
  <p:sldIdLst>
    <p:sldId id="2147470086" r:id="rId3"/>
    <p:sldId id="2147470088" r:id="rId4"/>
    <p:sldId id="2147470089" r:id="rId5"/>
    <p:sldId id="2147470090" r:id="rId6"/>
    <p:sldId id="2147470091" r:id="rId7"/>
    <p:sldId id="2147470094" r:id="rId8"/>
    <p:sldId id="2147470093" r:id="rId9"/>
    <p:sldId id="21474700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B4F35-4331-43E0-F4A4-C1A85BE0B43D}" v="271" dt="2025-11-15T21:03:56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99D17-4131-4E93-B09B-4AFFDBD09C41}" type="datetimeFigureOut"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3351D-9794-486D-8837-D15DF5AB51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0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1240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91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726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756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95115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6151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5084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894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42201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4089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918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6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E2CC-5B03-67E4-7442-97BB387B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3902-B76F-66A9-CA92-F4925DBB5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 dirty="0" err="1">
                <a:ea typeface="+mj-lt"/>
                <a:cs typeface="+mj-lt"/>
              </a:rPr>
              <a:t>PhinD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</a:rPr>
              <a:t>Me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</a:rPr>
              <a:t>If</a:t>
            </a:r>
            <a:r>
              <a:rPr lang="en-US" b="0" dirty="0">
                <a:ea typeface="+mj-lt"/>
                <a:cs typeface="+mj-lt"/>
              </a:rPr>
              <a:t> You Can</a:t>
            </a:r>
            <a:br>
              <a:rPr lang="en-US" dirty="0">
                <a:ea typeface="+mj-lt"/>
                <a:cs typeface="+mj-lt"/>
              </a:rPr>
            </a:br>
            <a:r>
              <a:rPr lang="en-US" sz="4000" dirty="0">
                <a:ea typeface="+mj-lt"/>
                <a:cs typeface="+mj-lt"/>
              </a:rPr>
              <a:t>(Find your perfect PhD advisor match)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FFB7-9A44-85C1-C6C3-7E4920173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Zakaria Mehrab, Farzana Yasmin Ahmad, Kazi Noshin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3C9A6-A00C-5E37-E1CC-B6A78553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5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C0FD-6DEC-4CF9-4744-E6DDED2F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3E5C1EA-A14B-2C1F-FC49-E4EBB75DCB79}"/>
              </a:ext>
            </a:extLst>
          </p:cNvPr>
          <p:cNvSpPr/>
          <p:nvPr/>
        </p:nvSpPr>
        <p:spPr>
          <a:xfrm>
            <a:off x="2177593" y="2121858"/>
            <a:ext cx="1272618" cy="120663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8A47E4-2C40-48A3-7798-8BDD2185E154}"/>
              </a:ext>
            </a:extLst>
          </p:cNvPr>
          <p:cNvSpPr/>
          <p:nvPr/>
        </p:nvSpPr>
        <p:spPr>
          <a:xfrm>
            <a:off x="5571240" y="2121858"/>
            <a:ext cx="1272618" cy="120663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1150F-F3D2-F332-1EFF-43AB61E6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8977511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Pain</a:t>
            </a:r>
            <a:r>
              <a:rPr lang="en-US" sz="5400" dirty="0"/>
              <a:t>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899D-37C6-BE88-FE0A-BC584884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2</a:t>
            </a:fld>
            <a:endParaRPr lang="en-US"/>
          </a:p>
        </p:txBody>
      </p:sp>
      <p:pic>
        <p:nvPicPr>
          <p:cNvPr id="5" name="Graphic 4" descr="Magnifying glass">
            <a:extLst>
              <a:ext uri="{FF2B5EF4-FFF2-40B4-BE49-F238E27FC236}">
                <a16:creationId xmlns:a16="http://schemas.microsoft.com/office/drawing/2014/main" id="{5BA975D6-A9EA-4B88-0FE6-97D8B991D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0490" y="2311761"/>
            <a:ext cx="826823" cy="826823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56009AD6-F9F7-7AAB-8653-FA70732A3777}"/>
              </a:ext>
            </a:extLst>
          </p:cNvPr>
          <p:cNvSpPr/>
          <p:nvPr/>
        </p:nvSpPr>
        <p:spPr>
          <a:xfrm>
            <a:off x="5898822" y="2345169"/>
            <a:ext cx="212103" cy="773826"/>
          </a:xfrm>
          <a:prstGeom prst="downArrow">
            <a:avLst/>
          </a:prstGeom>
          <a:solidFill>
            <a:srgbClr val="92D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8C4708A-4E89-8AD3-9E25-1D8195F18120}"/>
              </a:ext>
            </a:extLst>
          </p:cNvPr>
          <p:cNvSpPr/>
          <p:nvPr/>
        </p:nvSpPr>
        <p:spPr>
          <a:xfrm rot="10800000">
            <a:off x="6333241" y="2338261"/>
            <a:ext cx="212102" cy="773827"/>
          </a:xfrm>
          <a:prstGeom prst="downArrow">
            <a:avLst/>
          </a:prstGeom>
          <a:solidFill>
            <a:srgbClr val="92D0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88EDC7-5695-645D-78BA-076A551A5000}"/>
              </a:ext>
            </a:extLst>
          </p:cNvPr>
          <p:cNvSpPr/>
          <p:nvPr/>
        </p:nvSpPr>
        <p:spPr>
          <a:xfrm>
            <a:off x="8964887" y="2121856"/>
            <a:ext cx="1272618" cy="120663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Heart with pulse">
            <a:extLst>
              <a:ext uri="{FF2B5EF4-FFF2-40B4-BE49-F238E27FC236}">
                <a16:creationId xmlns:a16="http://schemas.microsoft.com/office/drawing/2014/main" id="{ACF6ABB8-8AC2-D164-1066-1F8964B04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3996" y="2311761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65E69C-AEDC-ECB9-16D7-67B0EC0A586B}"/>
              </a:ext>
            </a:extLst>
          </p:cNvPr>
          <p:cNvSpPr txBox="1"/>
          <p:nvPr/>
        </p:nvSpPr>
        <p:spPr>
          <a:xfrm>
            <a:off x="1745630" y="3429000"/>
            <a:ext cx="22136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Finding the right match</a:t>
            </a:r>
            <a:r>
              <a:rPr lang="en-US" sz="2800" baseline="30000" dirty="0"/>
              <a:t>[a]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A9244-74C0-177C-FDB3-217EB54E0AF0}"/>
              </a:ext>
            </a:extLst>
          </p:cNvPr>
          <p:cNvSpPr txBox="1"/>
          <p:nvPr/>
        </p:nvSpPr>
        <p:spPr>
          <a:xfrm>
            <a:off x="5176987" y="3429000"/>
            <a:ext cx="2061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Switching &amp; Attrition</a:t>
            </a:r>
            <a:r>
              <a:rPr lang="en-US" sz="2800" baseline="30000" dirty="0"/>
              <a:t>[b]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A05891-1816-DF00-9573-B9317AE7E998}"/>
              </a:ext>
            </a:extLst>
          </p:cNvPr>
          <p:cNvSpPr txBox="1"/>
          <p:nvPr/>
        </p:nvSpPr>
        <p:spPr>
          <a:xfrm>
            <a:off x="8418136" y="3429000"/>
            <a:ext cx="2450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Mental Health Impact</a:t>
            </a:r>
            <a:r>
              <a:rPr lang="en-US" sz="2800" baseline="30000" dirty="0"/>
              <a:t>[c]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9E737-1481-2180-F61B-4E7FE4286EE4}"/>
              </a:ext>
            </a:extLst>
          </p:cNvPr>
          <p:cNvSpPr txBox="1"/>
          <p:nvPr/>
        </p:nvSpPr>
        <p:spPr>
          <a:xfrm>
            <a:off x="1201916" y="5206486"/>
            <a:ext cx="10011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800" dirty="0"/>
              <a:t>Breen, Stephanie M., Jesse McCain, and Josipa </a:t>
            </a:r>
            <a:r>
              <a:rPr lang="en-US" sz="800" dirty="0" err="1"/>
              <a:t>Roksa</a:t>
            </a:r>
            <a:r>
              <a:rPr lang="en-US" sz="800" dirty="0"/>
              <a:t>. "Breaking points: exploring how negative doctoral advisor relationships develop over time." </a:t>
            </a:r>
            <a:r>
              <a:rPr lang="en-US" sz="800" i="1" dirty="0"/>
              <a:t>Higher Education</a:t>
            </a:r>
            <a:r>
              <a:rPr lang="en-US" sz="800" dirty="0"/>
              <a:t> 88.6 (2024): 2319-2338.</a:t>
            </a:r>
          </a:p>
          <a:p>
            <a:pPr marL="342900" indent="-342900">
              <a:buAutoNum type="alphaLcPeriod"/>
            </a:pPr>
            <a:r>
              <a:rPr lang="en-US" sz="800" dirty="0" err="1"/>
              <a:t>Verostek</a:t>
            </a:r>
            <a:r>
              <a:rPr lang="en-US" sz="800" dirty="0"/>
              <a:t>, Mike, Casey W. Miller, and Benjamin M. Zwickl. "Modeling when and how physics Ph. D. students search for a research group: The role of interests and prior research experiences in timely group integration." </a:t>
            </a:r>
            <a:r>
              <a:rPr lang="en-US" sz="800" i="1" dirty="0"/>
              <a:t>Physical Review Physics Education Research</a:t>
            </a:r>
            <a:r>
              <a:rPr lang="en-US" sz="800" dirty="0"/>
              <a:t> 20.2 (2024): 020119.</a:t>
            </a:r>
          </a:p>
          <a:p>
            <a:pPr marL="342900" indent="-342900">
              <a:buAutoNum type="alphaLcPeriod"/>
            </a:pPr>
            <a:r>
              <a:rPr lang="en-US" sz="800" dirty="0"/>
              <a:t>Mavrogalou-Foti, </a:t>
            </a:r>
            <a:r>
              <a:rPr lang="en-US" sz="800" dirty="0" err="1"/>
              <a:t>Alkistis</a:t>
            </a:r>
            <a:r>
              <a:rPr lang="en-US" sz="800" dirty="0"/>
              <a:t> P., Maria A. </a:t>
            </a:r>
            <a:r>
              <a:rPr lang="en-US" sz="800" dirty="0" err="1"/>
              <a:t>Kambouri</a:t>
            </a:r>
            <a:r>
              <a:rPr lang="en-US" sz="800" dirty="0"/>
              <a:t>, and </a:t>
            </a:r>
            <a:r>
              <a:rPr lang="en-US" sz="800" dirty="0" err="1"/>
              <a:t>Soljana</a:t>
            </a:r>
            <a:r>
              <a:rPr lang="en-US" sz="800" dirty="0"/>
              <a:t> </a:t>
            </a:r>
            <a:r>
              <a:rPr lang="en-US" sz="800" dirty="0" err="1"/>
              <a:t>Çili</a:t>
            </a:r>
            <a:r>
              <a:rPr lang="en-US" sz="800" dirty="0"/>
              <a:t>. "The supervisory relationship as a predictor of mental health outcomes in doctoral students in the United Kingdom." </a:t>
            </a:r>
            <a:r>
              <a:rPr lang="en-US" sz="800" i="1" dirty="0"/>
              <a:t>Frontiers in Psychology</a:t>
            </a:r>
            <a:r>
              <a:rPr lang="en-US" sz="800" dirty="0"/>
              <a:t> 15 (2024): 1437819.</a:t>
            </a:r>
          </a:p>
        </p:txBody>
      </p:sp>
    </p:spTree>
    <p:extLst>
      <p:ext uri="{BB962C8B-B14F-4D97-AF65-F5344CB8AC3E}">
        <p14:creationId xmlns:p14="http://schemas.microsoft.com/office/powerpoint/2010/main" val="473520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6D90-3CD0-B296-ACC3-750AF484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74B80EB-A1B6-2FA3-97B4-03FDBEB9A857}"/>
              </a:ext>
            </a:extLst>
          </p:cNvPr>
          <p:cNvSpPr/>
          <p:nvPr/>
        </p:nvSpPr>
        <p:spPr>
          <a:xfrm>
            <a:off x="2177593" y="2121858"/>
            <a:ext cx="1272618" cy="12066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ED28C6-B8C9-77BD-67B1-B6F852B789F5}"/>
              </a:ext>
            </a:extLst>
          </p:cNvPr>
          <p:cNvSpPr/>
          <p:nvPr/>
        </p:nvSpPr>
        <p:spPr>
          <a:xfrm>
            <a:off x="5571240" y="2121858"/>
            <a:ext cx="1272618" cy="120663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BCA1-4BDB-83EB-2FA2-5376C002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10190399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LLM for advisor search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D82BD-3F33-7D97-BD4F-D9A3BFDB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3</a:t>
            </a:fld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F0CA1B-1CF0-C1E4-A78D-E14E712F2A68}"/>
              </a:ext>
            </a:extLst>
          </p:cNvPr>
          <p:cNvSpPr/>
          <p:nvPr/>
        </p:nvSpPr>
        <p:spPr>
          <a:xfrm>
            <a:off x="8964887" y="2121856"/>
            <a:ext cx="1272618" cy="1206631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DBEEE4-2B9D-6338-6F9B-DF25B5C1D554}"/>
              </a:ext>
            </a:extLst>
          </p:cNvPr>
          <p:cNvSpPr txBox="1"/>
          <p:nvPr/>
        </p:nvSpPr>
        <p:spPr>
          <a:xfrm>
            <a:off x="1745630" y="3429000"/>
            <a:ext cx="22136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Scaling 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021C4-A000-7435-04C0-86A9331F2A8F}"/>
              </a:ext>
            </a:extLst>
          </p:cNvPr>
          <p:cNvSpPr txBox="1"/>
          <p:nvPr/>
        </p:nvSpPr>
        <p:spPr>
          <a:xfrm>
            <a:off x="5176987" y="3429000"/>
            <a:ext cx="2061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Pattern Matching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0C3BED-5A4A-4032-1A27-A301BA4DD81C}"/>
              </a:ext>
            </a:extLst>
          </p:cNvPr>
          <p:cNvSpPr txBox="1"/>
          <p:nvPr/>
        </p:nvSpPr>
        <p:spPr>
          <a:xfrm>
            <a:off x="8418136" y="3429000"/>
            <a:ext cx="2450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Beyond Research Fit</a:t>
            </a:r>
          </a:p>
        </p:txBody>
      </p:sp>
      <p:pic>
        <p:nvPicPr>
          <p:cNvPr id="6" name="Graphic 5" descr="Signal">
            <a:extLst>
              <a:ext uri="{FF2B5EF4-FFF2-40B4-BE49-F238E27FC236}">
                <a16:creationId xmlns:a16="http://schemas.microsoft.com/office/drawing/2014/main" id="{42B16A59-AD44-8F67-BA3D-2285A0DF5F1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2821" y="2248982"/>
            <a:ext cx="914400" cy="914400"/>
          </a:xfrm>
          <a:prstGeom prst="rect">
            <a:avLst/>
          </a:prstGeom>
        </p:spPr>
      </p:pic>
      <p:pic>
        <p:nvPicPr>
          <p:cNvPr id="18" name="Graphic 17" descr="Puzzle pieces">
            <a:extLst>
              <a:ext uri="{FF2B5EF4-FFF2-40B4-BE49-F238E27FC236}">
                <a16:creationId xmlns:a16="http://schemas.microsoft.com/office/drawing/2014/main" id="{BDA7E4B1-9C55-933E-F732-3071019B925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8482" y="2229784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418F757-D062-1ACA-2B25-5FC6D627B2DB}"/>
              </a:ext>
            </a:extLst>
          </p:cNvPr>
          <p:cNvSpPr/>
          <p:nvPr/>
        </p:nvSpPr>
        <p:spPr>
          <a:xfrm>
            <a:off x="9304255" y="2413261"/>
            <a:ext cx="631596" cy="1609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33BB56-5F37-C883-4284-59C9B7F00E9B}"/>
              </a:ext>
            </a:extLst>
          </p:cNvPr>
          <p:cNvSpPr/>
          <p:nvPr/>
        </p:nvSpPr>
        <p:spPr>
          <a:xfrm>
            <a:off x="9304255" y="2658703"/>
            <a:ext cx="631596" cy="160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3A7B8C-6566-44AC-4973-A8C0D9EA6580}"/>
              </a:ext>
            </a:extLst>
          </p:cNvPr>
          <p:cNvSpPr/>
          <p:nvPr/>
        </p:nvSpPr>
        <p:spPr>
          <a:xfrm>
            <a:off x="9304255" y="2916954"/>
            <a:ext cx="631596" cy="1609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934A-DC5A-8A08-F2EE-012C7959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8AD7988-DAAC-6B65-63EC-296B692FAFC3}"/>
              </a:ext>
            </a:extLst>
          </p:cNvPr>
          <p:cNvSpPr/>
          <p:nvPr/>
        </p:nvSpPr>
        <p:spPr>
          <a:xfrm>
            <a:off x="5457215" y="2398679"/>
            <a:ext cx="1958505" cy="217818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Quattrocento Sans" panose="020B0502050000020003" pitchFamily="34" charset="0"/>
              </a:rPr>
              <a:t>LLM API</a:t>
            </a:r>
          </a:p>
          <a:p>
            <a:pPr algn="ctr"/>
            <a:endParaRPr lang="en-US" sz="3600" dirty="0">
              <a:solidFill>
                <a:schemeClr val="tx1"/>
              </a:solidFill>
              <a:latin typeface="Quattrocento Sans" panose="020B0502050000020003" pitchFamily="34" charset="0"/>
            </a:endParaRPr>
          </a:p>
          <a:p>
            <a:pPr algn="ctr"/>
            <a:endParaRPr lang="en-US" sz="3600" dirty="0">
              <a:solidFill>
                <a:schemeClr val="tx1"/>
              </a:solidFill>
              <a:latin typeface="Quattrocento Sans" panose="020B0502050000020003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(e.g., Claude)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824BC-25E0-C0D8-F61C-E45819A4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10190399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System workflow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BD126-D33B-3710-0E02-042424AA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4</a:t>
            </a:fld>
            <a:endParaRPr lang="en-US"/>
          </a:p>
        </p:txBody>
      </p:sp>
      <p:pic>
        <p:nvPicPr>
          <p:cNvPr id="5" name="Graphic 4" descr="School boy">
            <a:extLst>
              <a:ext uri="{FF2B5EF4-FFF2-40B4-BE49-F238E27FC236}">
                <a16:creationId xmlns:a16="http://schemas.microsoft.com/office/drawing/2014/main" id="{0519B358-CC5A-CD01-6DF4-0390850C9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230" y="2243847"/>
            <a:ext cx="1034374" cy="103437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2E1A2F8-F495-0785-DDE5-2F4DE23E0660}"/>
              </a:ext>
            </a:extLst>
          </p:cNvPr>
          <p:cNvGrpSpPr/>
          <p:nvPr/>
        </p:nvGrpSpPr>
        <p:grpSpPr>
          <a:xfrm>
            <a:off x="2037943" y="3662464"/>
            <a:ext cx="914400" cy="1410511"/>
            <a:chOff x="1767192" y="3244175"/>
            <a:chExt cx="914400" cy="141051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8" name="Graphic 7" descr="Graduation cap">
              <a:extLst>
                <a:ext uri="{FF2B5EF4-FFF2-40B4-BE49-F238E27FC236}">
                  <a16:creationId xmlns:a16="http://schemas.microsoft.com/office/drawing/2014/main" id="{FC01C31E-06E2-B7B5-9237-CB0DD1580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67192" y="3244175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User">
              <a:extLst>
                <a:ext uri="{FF2B5EF4-FFF2-40B4-BE49-F238E27FC236}">
                  <a16:creationId xmlns:a16="http://schemas.microsoft.com/office/drawing/2014/main" id="{FFF0DD12-4CEE-E4FA-1ABE-8307FB10B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06104" y="3857017"/>
              <a:ext cx="797669" cy="797669"/>
            </a:xfrm>
            <a:prstGeom prst="rect">
              <a:avLst/>
            </a:prstGeom>
          </p:spPr>
        </p:pic>
      </p:grpSp>
      <p:sp>
        <p:nvSpPr>
          <p:cNvPr id="23" name="Scroll: Vertical 22">
            <a:extLst>
              <a:ext uri="{FF2B5EF4-FFF2-40B4-BE49-F238E27FC236}">
                <a16:creationId xmlns:a16="http://schemas.microsoft.com/office/drawing/2014/main" id="{0B87AF76-E295-BAAF-E27C-0DEC0903696C}"/>
              </a:ext>
            </a:extLst>
          </p:cNvPr>
          <p:cNvSpPr/>
          <p:nvPr/>
        </p:nvSpPr>
        <p:spPr>
          <a:xfrm>
            <a:off x="2752926" y="2341124"/>
            <a:ext cx="856034" cy="825229"/>
          </a:xfrm>
          <a:prstGeom prst="verticalScroll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CV</a:t>
            </a:r>
          </a:p>
        </p:txBody>
      </p:sp>
      <p:sp>
        <p:nvSpPr>
          <p:cNvPr id="35" name="Scroll: Vertical 34">
            <a:extLst>
              <a:ext uri="{FF2B5EF4-FFF2-40B4-BE49-F238E27FC236}">
                <a16:creationId xmlns:a16="http://schemas.microsoft.com/office/drawing/2014/main" id="{DC9109FC-F51A-E159-BC2E-4870F9405536}"/>
              </a:ext>
            </a:extLst>
          </p:cNvPr>
          <p:cNvSpPr/>
          <p:nvPr/>
        </p:nvSpPr>
        <p:spPr>
          <a:xfrm>
            <a:off x="3608960" y="2341124"/>
            <a:ext cx="856034" cy="825229"/>
          </a:xfrm>
          <a:prstGeom prst="verticalScroll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SOP</a:t>
            </a:r>
          </a:p>
        </p:txBody>
      </p:sp>
      <p:sp>
        <p:nvSpPr>
          <p:cNvPr id="37" name="Scroll: Horizontal 36">
            <a:extLst>
              <a:ext uri="{FF2B5EF4-FFF2-40B4-BE49-F238E27FC236}">
                <a16:creationId xmlns:a16="http://schemas.microsoft.com/office/drawing/2014/main" id="{94B5EA5F-69FE-7B27-1A63-C7BD3740C177}"/>
              </a:ext>
            </a:extLst>
          </p:cNvPr>
          <p:cNvSpPr/>
          <p:nvPr/>
        </p:nvSpPr>
        <p:spPr>
          <a:xfrm>
            <a:off x="2952344" y="3584642"/>
            <a:ext cx="1590472" cy="914400"/>
          </a:xfrm>
          <a:prstGeom prst="horizontalScroll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Publication History</a:t>
            </a:r>
          </a:p>
        </p:txBody>
      </p:sp>
      <p:sp>
        <p:nvSpPr>
          <p:cNvPr id="38" name="Scroll: Vertical 37">
            <a:extLst>
              <a:ext uri="{FF2B5EF4-FFF2-40B4-BE49-F238E27FC236}">
                <a16:creationId xmlns:a16="http://schemas.microsoft.com/office/drawing/2014/main" id="{521740CB-9F7B-33BF-F9FB-E1DA7A78C528}"/>
              </a:ext>
            </a:extLst>
          </p:cNvPr>
          <p:cNvSpPr/>
          <p:nvPr/>
        </p:nvSpPr>
        <p:spPr>
          <a:xfrm>
            <a:off x="3012329" y="4422032"/>
            <a:ext cx="1413753" cy="825229"/>
          </a:xfrm>
          <a:prstGeom prst="verticalScroll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Website Link</a:t>
            </a:r>
          </a:p>
        </p:txBody>
      </p:sp>
      <p:pic>
        <p:nvPicPr>
          <p:cNvPr id="40" name="Graphic 39" descr="Brain">
            <a:extLst>
              <a:ext uri="{FF2B5EF4-FFF2-40B4-BE49-F238E27FC236}">
                <a16:creationId xmlns:a16="http://schemas.microsoft.com/office/drawing/2014/main" id="{F31F2AB2-5BC2-2DFA-5423-D392C61FA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0135" y="2858310"/>
            <a:ext cx="1452664" cy="145266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1" name="Graphic 40" descr="School boy">
            <a:extLst>
              <a:ext uri="{FF2B5EF4-FFF2-40B4-BE49-F238E27FC236}">
                <a16:creationId xmlns:a16="http://schemas.microsoft.com/office/drawing/2014/main" id="{6021ABA2-1762-18E7-9996-5A9FE3AF2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26" y="3124201"/>
            <a:ext cx="1034374" cy="103437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4FE6647-0FFB-ED71-708E-731C0C382359}"/>
              </a:ext>
            </a:extLst>
          </p:cNvPr>
          <p:cNvCxnSpPr>
            <a:cxnSpLocks/>
            <a:stCxn id="41" idx="0"/>
            <a:endCxn id="5" idx="0"/>
          </p:cNvCxnSpPr>
          <p:nvPr/>
        </p:nvCxnSpPr>
        <p:spPr>
          <a:xfrm rot="5400000" flipH="1" flipV="1">
            <a:off x="1458338" y="2097122"/>
            <a:ext cx="880354" cy="1173804"/>
          </a:xfrm>
          <a:prstGeom prst="bentConnector3">
            <a:avLst>
              <a:gd name="adj1" fmla="val 125967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AB40422-DAD6-FBA9-68DD-E6D4F4A160C8}"/>
              </a:ext>
            </a:extLst>
          </p:cNvPr>
          <p:cNvCxnSpPr>
            <a:cxnSpLocks/>
            <a:stCxn id="41" idx="2"/>
            <a:endCxn id="13" idx="2"/>
          </p:cNvCxnSpPr>
          <p:nvPr/>
        </p:nvCxnSpPr>
        <p:spPr>
          <a:xfrm rot="16200000" flipH="1">
            <a:off x="1436451" y="4033736"/>
            <a:ext cx="914400" cy="1164077"/>
          </a:xfrm>
          <a:prstGeom prst="bentConnector3">
            <a:avLst>
              <a:gd name="adj1" fmla="val 125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A3D42DD-7451-74AC-E216-4AB0258627DC}"/>
              </a:ext>
            </a:extLst>
          </p:cNvPr>
          <p:cNvCxnSpPr>
            <a:cxnSpLocks/>
          </p:cNvCxnSpPr>
          <p:nvPr/>
        </p:nvCxnSpPr>
        <p:spPr>
          <a:xfrm>
            <a:off x="4464994" y="2798930"/>
            <a:ext cx="992221" cy="6154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CDC3169-97B9-741E-CE31-242C46BA79FC}"/>
              </a:ext>
            </a:extLst>
          </p:cNvPr>
          <p:cNvCxnSpPr>
            <a:cxnSpLocks/>
          </p:cNvCxnSpPr>
          <p:nvPr/>
        </p:nvCxnSpPr>
        <p:spPr>
          <a:xfrm flipV="1">
            <a:off x="4464994" y="3708898"/>
            <a:ext cx="992221" cy="96037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1C08B27-8F58-B2D8-FE8E-BB2C5195E886}"/>
              </a:ext>
            </a:extLst>
          </p:cNvPr>
          <p:cNvSpPr/>
          <p:nvPr/>
        </p:nvSpPr>
        <p:spPr>
          <a:xfrm>
            <a:off x="8150156" y="1798579"/>
            <a:ext cx="2890735" cy="11683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Qualitative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Justification of research fit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Justification of workstyle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Overall Justification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767DC04-4CF0-7560-F2C5-0D76BEE6E6D2}"/>
              </a:ext>
            </a:extLst>
          </p:cNvPr>
          <p:cNvSpPr/>
          <p:nvPr/>
        </p:nvSpPr>
        <p:spPr>
          <a:xfrm>
            <a:off x="8054498" y="3662464"/>
            <a:ext cx="3119772" cy="15077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Quantitative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Overall match score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Research fit score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Workstyle fit score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Prof. publication yearly rate</a:t>
            </a:r>
          </a:p>
          <a:p>
            <a:pPr marL="342900" indent="-342900">
              <a:buAutoNum type="alphaLcPeriod"/>
            </a:pPr>
            <a:r>
              <a:rPr lang="en-US" sz="1400" b="1" dirty="0">
                <a:solidFill>
                  <a:schemeClr val="tx1"/>
                </a:solidFill>
              </a:rPr>
              <a:t>Student publication yearly rate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89B82C4-5043-3E9F-8838-53A4644CF2EA}"/>
              </a:ext>
            </a:extLst>
          </p:cNvPr>
          <p:cNvCxnSpPr>
            <a:cxnSpLocks/>
            <a:stCxn id="54" idx="3"/>
            <a:endCxn id="65" idx="1"/>
          </p:cNvCxnSpPr>
          <p:nvPr/>
        </p:nvCxnSpPr>
        <p:spPr>
          <a:xfrm flipV="1">
            <a:off x="7415720" y="2382758"/>
            <a:ext cx="734436" cy="11050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B61D2AF6-B974-2569-34A9-467B575617E1}"/>
              </a:ext>
            </a:extLst>
          </p:cNvPr>
          <p:cNvCxnSpPr>
            <a:cxnSpLocks/>
            <a:stCxn id="54" idx="3"/>
            <a:endCxn id="66" idx="1"/>
          </p:cNvCxnSpPr>
          <p:nvPr/>
        </p:nvCxnSpPr>
        <p:spPr>
          <a:xfrm>
            <a:off x="7415720" y="3487772"/>
            <a:ext cx="638778" cy="928586"/>
          </a:xfrm>
          <a:prstGeom prst="bentConnector3">
            <a:avLst>
              <a:gd name="adj1" fmla="val 57614"/>
            </a:avLst>
          </a:prstGeom>
          <a:ln w="19050">
            <a:solidFill>
              <a:schemeClr val="tx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38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DB44-6776-3888-A614-9F383C9B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24C3-DB07-8A70-561A-71B30642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10190399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EXAMPLE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CCE9F-8E6B-2E26-E011-A7A322AC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610485-22F9-1421-24A2-430B17AB51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6"/>
          <a:stretch>
            <a:fillRect/>
          </a:stretch>
        </p:blipFill>
        <p:spPr>
          <a:xfrm>
            <a:off x="1012490" y="2548647"/>
            <a:ext cx="3661463" cy="20022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43A2A2-5D17-CA40-4FB2-EEDD35AAB0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4"/>
          <a:stretch>
            <a:fillRect/>
          </a:stretch>
        </p:blipFill>
        <p:spPr>
          <a:xfrm>
            <a:off x="4441891" y="2142489"/>
            <a:ext cx="6737619" cy="36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7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5B9F-BC73-3A9E-8586-E0CC2328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BA47EE-32ED-40ED-1B62-3E815E1F9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6"/>
          <a:stretch>
            <a:fillRect/>
          </a:stretch>
        </p:blipFill>
        <p:spPr>
          <a:xfrm>
            <a:off x="1012490" y="2548647"/>
            <a:ext cx="3661463" cy="2002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FBB159-6BAC-976E-C0D2-29B376C2E9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4"/>
          <a:stretch>
            <a:fillRect/>
          </a:stretch>
        </p:blipFill>
        <p:spPr>
          <a:xfrm>
            <a:off x="4441891" y="2142489"/>
            <a:ext cx="6737619" cy="36065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5A336-9273-2C43-EB79-4A45FF0B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10190399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EXAMPLE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2B3C-B04C-6CEF-1F1C-36BBCD38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80963-59B0-381F-58A4-0FC6BDB1DB78}"/>
              </a:ext>
            </a:extLst>
          </p:cNvPr>
          <p:cNvSpPr/>
          <p:nvPr/>
        </p:nvSpPr>
        <p:spPr>
          <a:xfrm>
            <a:off x="4673954" y="3083668"/>
            <a:ext cx="6426432" cy="26653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5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3E74-FED6-1DBC-ACD5-B73882BF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BAFD-AEA2-7B53-869A-13C8872C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3" y="705298"/>
            <a:ext cx="10190399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Future work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E45CD-02A5-6557-ECF5-4FD5527D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CAF379-817A-52C6-BDDF-141FB47309BF}"/>
              </a:ext>
            </a:extLst>
          </p:cNvPr>
          <p:cNvSpPr/>
          <p:nvPr/>
        </p:nvSpPr>
        <p:spPr>
          <a:xfrm>
            <a:off x="1251192" y="3428999"/>
            <a:ext cx="4439488" cy="11578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Bias &amp; Fairness Testing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50A50-4710-E7E4-E287-5B28369E4453}"/>
              </a:ext>
            </a:extLst>
          </p:cNvPr>
          <p:cNvSpPr/>
          <p:nvPr/>
        </p:nvSpPr>
        <p:spPr>
          <a:xfrm>
            <a:off x="7025202" y="3428999"/>
            <a:ext cx="3996236" cy="11578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Uncertainty Quantification</a:t>
            </a:r>
          </a:p>
        </p:txBody>
      </p:sp>
      <p:pic>
        <p:nvPicPr>
          <p:cNvPr id="12" name="Graphic 11" descr="Help">
            <a:extLst>
              <a:ext uri="{FF2B5EF4-FFF2-40B4-BE49-F238E27FC236}">
                <a16:creationId xmlns:a16="http://schemas.microsoft.com/office/drawing/2014/main" id="{D206CF6E-E579-C809-E341-52DFB00BE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6120" y="2514599"/>
            <a:ext cx="914400" cy="914400"/>
          </a:xfrm>
          <a:prstGeom prst="rect">
            <a:avLst/>
          </a:prstGeom>
        </p:spPr>
      </p:pic>
      <p:pic>
        <p:nvPicPr>
          <p:cNvPr id="14" name="Graphic 13" descr="Scale">
            <a:extLst>
              <a:ext uri="{FF2B5EF4-FFF2-40B4-BE49-F238E27FC236}">
                <a16:creationId xmlns:a16="http://schemas.microsoft.com/office/drawing/2014/main" id="{61B7DC04-548A-FDD8-8409-76E3D7EE6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3736" y="25145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7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67E9-D99D-EF62-8C6C-0AD6B4F2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58EA-11CE-7E54-34BF-5F551501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0487" y="4489358"/>
            <a:ext cx="5248502" cy="107382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Quattrocento Sans" panose="020B0502050000020003" pitchFamily="34" charset="0"/>
              </a:rPr>
              <a:t>Thank you!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F0ABA-4742-EC91-31E7-21B14F05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8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imelightVTI">
  <a:themeElements>
    <a:clrScheme name="AnalogousFromDarkSeedLeftStep">
      <a:dk1>
        <a:srgbClr val="000000"/>
      </a:dk1>
      <a:lt1>
        <a:srgbClr val="FFFFFF"/>
      </a:lt1>
      <a:dk2>
        <a:srgbClr val="2A1C32"/>
      </a:dk2>
      <a:lt2>
        <a:srgbClr val="F0F3F2"/>
      </a:lt2>
      <a:accent1>
        <a:srgbClr val="C34D8A"/>
      </a:accent1>
      <a:accent2>
        <a:srgbClr val="B13BA9"/>
      </a:accent2>
      <a:accent3>
        <a:srgbClr val="9A4DC3"/>
      </a:accent3>
      <a:accent4>
        <a:srgbClr val="593EB3"/>
      </a:accent4>
      <a:accent5>
        <a:srgbClr val="4D62C3"/>
      </a:accent5>
      <a:accent6>
        <a:srgbClr val="3B82B1"/>
      </a:accent6>
      <a:hlink>
        <a:srgbClr val="3F41BF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254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Quattrocento Sans</vt:lpstr>
      <vt:lpstr>Trade Gothic Next Cond</vt:lpstr>
      <vt:lpstr>Trade Gothic Next Light</vt:lpstr>
      <vt:lpstr>office theme</vt:lpstr>
      <vt:lpstr>LimelightVTI</vt:lpstr>
      <vt:lpstr>PhinD Me If You Can (Find your perfect PhD advisor match)</vt:lpstr>
      <vt:lpstr>Pain Point</vt:lpstr>
      <vt:lpstr>LLM for advisor search</vt:lpstr>
      <vt:lpstr>System workflow</vt:lpstr>
      <vt:lpstr>EXAMPLE</vt:lpstr>
      <vt:lpstr>EXAMPLE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Mehrab, Zakaria (zm8bh)</cp:lastModifiedBy>
  <cp:revision>11</cp:revision>
  <dcterms:created xsi:type="dcterms:W3CDTF">2025-11-15T18:39:26Z</dcterms:created>
  <dcterms:modified xsi:type="dcterms:W3CDTF">2025-11-15T23:59:49Z</dcterms:modified>
</cp:coreProperties>
</file>